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Arial"/>
              </a:rPr>
              <a:t>BRANDRISE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Arial"/>
              </a:rPr>
              <a:t>마케팅 비용은 쓰고 있는데</a:t>
            </a:r>
          </a:p>
          <a:p>
            <a:pPr algn="l"/>
            <a:r>
              <a:rPr sz="4000" b="1">
                <a:solidFill>
                  <a:srgbClr val="1A1A1A"/>
                </a:solidFill>
                <a:latin typeface="Arial"/>
              </a:rPr>
              <a:t>브랜드는 안 쌓이고 있다면.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직접 브랜드를 만들어 3개국에 진출시킨 팀이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당신의 스타트업에 맞는 브랜딩 전략을 설계합니다.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256032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8737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   스타트업 브랜드 전략 파트너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5001768"/>
            <a:ext cx="73152" cy="73152"/>
          </a:xfrm>
          <a:prstGeom prst="ellipse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주식회사 히즈 (HIZ Inc.)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8652B"/>
                </a:solidFill>
                <a:latin typeface="Arial"/>
              </a:rPr>
              <a:t>브랜드라이즈 소개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0" y="118872"/>
            <a:ext cx="347472" cy="347472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왜 스타트업 마케팅은</a:t>
            </a:r>
          </a:p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실패할까요?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rial"/>
              </a:rPr>
              <a:t>매달 200만원의 광고비를 쓰고 있지만,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Arial"/>
              </a:rPr>
              <a:t>마케팅이 안 되고 있습니다.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Arial"/>
              </a:rPr>
              <a:t>어디부터 손대야 하는지 모르겠다면,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Arial"/>
              </a:rPr>
              <a:t>가장 먼저 해야 할 것은 광고가 아닙니다.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3291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652B"/>
                </a:solidFill>
                <a:latin typeface="Arial"/>
              </a:rPr>
              <a:t>73%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전략 없이 집행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초기 스타트업 마케팅 예산의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대부분이 브랜드 자산으로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남지 않고 소진됩니다.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00400"/>
            <a:ext cx="3291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652B"/>
                </a:solidFill>
                <a:latin typeface="Arial"/>
              </a:rPr>
              <a:t>6개월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평균 이탈 시점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대행사를 바꾸거나 마케팅을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중단하는 평균 시점.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"효과를 모르겠다"가 주된 이유.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200400"/>
            <a:ext cx="3291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652B"/>
                </a:solidFill>
                <a:latin typeface="Arial"/>
              </a:rPr>
              <a:t>2.3배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CAC 격차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브랜딩이 된 스타트업과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안 된 스타트업의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고객획득비용 차이입니다.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10698480" cy="502920"/>
          </a:xfrm>
          <a:prstGeom prst="roundRect">
            <a:avLst/>
          </a:prstGeom>
          <a:solidFill>
            <a:srgbClr val="FDF0EA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마케팅이 문제가 아닙니다.  브랜딩 없이 마케팅만 하는 것이 문제입니다.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8652B"/>
                </a:solidFill>
                <a:latin typeface="Arial"/>
              </a:rPr>
              <a:t>브랜드라이즈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118872"/>
            <a:ext cx="347472" cy="347472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14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브랜드라이즈는</a:t>
            </a:r>
          </a:p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이 문제를 이렇게 풀어드립니다.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rial"/>
              </a:rPr>
              <a:t>전략만 세워주고 떠나는 컨설팅이 아닙니다. 직접 실행하고, 숫자로 증명합니다.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329184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20240" y="3200400"/>
            <a:ext cx="914400" cy="502920"/>
          </a:xfrm>
          <a:prstGeom prst="roundRect">
            <a:avLst/>
          </a:prstGeom>
          <a:solidFill>
            <a:srgbClr val="FD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652B"/>
                </a:solidFill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진단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현재 브랜드 상태를 정밀 분석하고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경쟁사 대비 포지셔닝을 파악합니다.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926080"/>
            <a:ext cx="329184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77840" y="3200400"/>
            <a:ext cx="914400" cy="502920"/>
          </a:xfrm>
          <a:prstGeom prst="roundRect">
            <a:avLst/>
          </a:prstGeom>
          <a:solidFill>
            <a:srgbClr val="FD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652B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솔루션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브랜드 상황에 맞는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맞춤 마케팅 액션을 설계합니다.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29184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3200400"/>
            <a:ext cx="914400" cy="502920"/>
          </a:xfrm>
          <a:prstGeom prst="roundRect">
            <a:avLst/>
          </a:prstGeom>
          <a:solidFill>
            <a:srgbClr val="FD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8652B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Arial"/>
              </a:rPr>
              <a:t>분석(Report)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89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매출/전환 데이터를 분석하고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전략을 지속적으로 조정합니다.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8652B"/>
                </a:solidFill>
                <a:latin typeface="Arial"/>
              </a:rPr>
              <a:t>브랜드라이즈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"/>
            <a:ext cx="347472" cy="347472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브랜딩 &amp; 마케팅 프로페셔널</a:t>
            </a:r>
          </a:p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18년의 노하우를 스타트업에.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rial"/>
              </a:rPr>
              <a:t>대기업에서 검증된 전략 체계를 스타트업 규모에 맞게 최적화합니다.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329184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프로젝트 경험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8652B"/>
                </a:solidFill>
                <a:latin typeface="Arial"/>
              </a:rPr>
              <a:t>30+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대기업·스타트업 브랜드 프로젝트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926080"/>
            <a:ext cx="329184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평균 연속 수주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657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8652B"/>
                </a:solidFill>
                <a:latin typeface="Arial"/>
              </a:rPr>
              <a:t>3년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클라이언트 재계약 기간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291840" cy="2560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글로벌 진출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657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8652B"/>
                </a:solidFill>
                <a:latin typeface="Arial"/>
              </a:rPr>
              <a:t>3개국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자사 브랜드 미국·일본·한국 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8652B"/>
                </a:solidFill>
                <a:latin typeface="Arial"/>
              </a:rPr>
              <a:t>서비스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18872"/>
            <a:ext cx="347472" cy="347472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77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브랜드라이즈가 만들면 다릅니다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필요한 영역만 선택하여 진행할 수 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011680"/>
            <a:ext cx="32918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148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Service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브랜드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51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652B"/>
                </a:solidFill>
                <a:latin typeface="Arial"/>
              </a:rPr>
              <a:t>Brand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시장 분석부터 포지셔닝까지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브랜드가 설 자리를 설계합니다.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29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경쟁사 분석 &amp; 시장 기회 발굴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포지셔닝 &amp; 핵심 메시지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GTM 로드맵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011680"/>
            <a:ext cx="32918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148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Service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BI / CI 디자인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651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652B"/>
                </a:solidFill>
                <a:latin typeface="Arial"/>
              </a:rPr>
              <a:t>Brand 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로고·컬러·톤앤매너·패키지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브랜드만의 목소리를 만듭니다.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429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비주얼 아이덴티티 시스템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브랜드 가이드라인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패키지 &amp; 굿즈 디자인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2011680"/>
            <a:ext cx="32918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2148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Service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채널 전략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651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652B"/>
                </a:solidFill>
                <a:latin typeface="Arial"/>
              </a:rPr>
              <a:t>Channel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SNS·유통·퍼포먼스 통합 설계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팔리는 구조를 만듭니다.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429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퍼포먼스 마케팅 (Meta, Google)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SNS 콘텐츠 전략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유통 채널 최적화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480560"/>
            <a:ext cx="32918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617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Service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외부 CMO 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20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652B"/>
                </a:solidFill>
                <a:latin typeface="Arial"/>
              </a:rPr>
              <a:t>CMO as a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394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월간 브랜드 코칭 &amp; 성과 관리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전략부터 실행까지 함께합니다.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897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주간/월간 브랜드 코칭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대행사 핸들링 &amp; 감독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통합 KPI 리포트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4480560"/>
            <a:ext cx="32918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4617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Service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글로벌 진출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5120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652B"/>
                </a:solidFill>
                <a:latin typeface="Arial"/>
              </a:rPr>
              <a:t>Global Expansion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394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미국·일본 시장 진출 전략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831개 해외 바이어 네트워크.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5897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해외 마켓 진입 전략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Cosmoprof 전시 기획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현지 유통 네트워크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480560"/>
            <a:ext cx="329184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4617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Service 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AI 브랜드 가이드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1206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652B"/>
                </a:solidFill>
                <a:latin typeface="Arial"/>
              </a:rPr>
              <a:t>AI Brand Guide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5394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AI 활용 운영 로드맵 설계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혼자서도 운영할 수 있는 시스템.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58978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AI 마케팅 자동화 설계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콘텐츠 생산 시스템</a:t>
            </a:r>
          </a:p>
          <a:p>
            <a:pPr algn="l"/>
            <a:r>
              <a:rPr sz="800" b="0">
                <a:solidFill>
                  <a:srgbClr val="555555"/>
                </a:solidFill>
                <a:latin typeface="Arial"/>
              </a:rPr>
              <a:t>· 운영 매뉴얼 &amp; 교육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8652B"/>
                </a:solidFill>
                <a:latin typeface="Arial"/>
              </a:rPr>
              <a:t>진행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18872"/>
            <a:ext cx="347472" cy="347472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77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4주 안에 브랜드의 방향이 잡힙니다.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긴 보고서 대신, 빠른 실행. 4주 집중 프로그램으로 브랜드의 뾰족함을 만듭니다.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286000"/>
            <a:ext cx="256032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652B"/>
                </a:solidFill>
                <a:latin typeface="Arial"/>
              </a:rPr>
              <a:t>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788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진단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004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현재 위치 파악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경쟁사 분석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핵심 과제 도출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652B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2286000"/>
            <a:ext cx="256032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652B"/>
                </a:solidFill>
                <a:latin typeface="Arial"/>
              </a:rPr>
              <a:t>Week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2788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발견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32004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뾰족함 도출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타겟 고객 정의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포지셔닝 확정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652B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286000"/>
            <a:ext cx="256032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652B"/>
                </a:solidFill>
                <a:latin typeface="Arial"/>
              </a:rPr>
              <a:t>Week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788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2004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전략 문서화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실행 로드맵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콘텐츠 기획안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652B"/>
                </a:solidFill>
                <a:latin typeface="Arial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2286000"/>
            <a:ext cx="256032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8652B"/>
                </a:solidFill>
                <a:latin typeface="Arial"/>
              </a:rPr>
              <a:t>Week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788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런칭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20040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첫 실행 착수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성과 측정 세팅</a:t>
            </a:r>
          </a:p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주간 케어 전환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03520"/>
            <a:ext cx="10698480" cy="502920"/>
          </a:xfrm>
          <a:prstGeom prst="roundRect">
            <a:avLst/>
          </a:prstGeom>
          <a:solidFill>
            <a:srgbClr val="FDF0EA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4주 이후 → 주간 케어 모델로 전환하여 지속적으로 성장을 함께합니다.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8652B"/>
                </a:solidFill>
                <a:latin typeface="Arial"/>
              </a:rPr>
              <a:t>Why Brandrise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18872"/>
            <a:ext cx="347472" cy="347472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77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WHY BRANDRISE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직접 브랜드를 만들어본 사람이,</a:t>
            </a:r>
          </a:p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대기업 급 전략을 씁니다.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남의 브랜드만 키운 게 아닙니다. 내 돈으로, 내 브랜드를, 바닥부터 만들어봤습니다.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521208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560320"/>
            <a:ext cx="5212080" cy="36576"/>
          </a:xfrm>
          <a:prstGeom prst="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6974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직접 브랜드를 만들어 성공시킨 경험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ReSaltZ — 0에서 시작해</a:t>
            </a:r>
          </a:p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미국/일본 진출까지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프리미엄 웰니스 브랜드 기획부터 A-to-Z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미국 최상위 마켓 진입 + 일본 유통 확보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뉴욕, 도쿄, 서울 — 3개국 팝업 직접 운영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출시 18개월 만에 연 매출 8억 돌파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미국 법인 설립 (Seoul Wellness, INC.)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60320"/>
            <a:ext cx="521208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560320"/>
            <a:ext cx="5212080" cy="36576"/>
          </a:xfrm>
          <a:prstGeom prst="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974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18년 기업 브랜드 노하우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글로벌 브랜드 IMC 전략</a:t>
            </a:r>
          </a:p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— 전략에서 캠페인까지 풀스택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747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아모레퍼시픽, CJ제일제당, 네슬레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하이네켄, 스타벅스엔홈, 현대차정몽구재단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ETUDE, MISSHA, 현대백화점그룹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Cosmoprof NA/Bologna 직접 참가 및 수주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· 대기업 팝업 30건+ 기획/운영 실행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86400"/>
            <a:ext cx="10698480" cy="548640"/>
          </a:xfrm>
          <a:prstGeom prst="roundRect">
            <a:avLst/>
          </a:prstGeom>
          <a:solidFill>
            <a:srgbClr val="FDF0EA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에이전시는 남의 브랜드를 키웁니다.  브랜드라이즈는 직접 키워본 사람이 만듭니다.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8652B"/>
                </a:solidFill>
                <a:latin typeface="Arial"/>
              </a:rPr>
              <a:t>고객사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18872"/>
            <a:ext cx="347472" cy="347472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77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스타트업부터 대기업까지,</a:t>
            </a:r>
          </a:p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함께 성장해온 파트너들.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10312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ReSaltZ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프리미엄 웰니스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39" y="210312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9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VEGGIET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599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식물성 푸드테크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210312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WEETAMIN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건강기능식품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210312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CheckVO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560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체크보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10896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하이네켄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Heineken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39" y="310896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599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CJ제일제당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599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CJ CheilJedang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10896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네슬레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Nestle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310896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아모레퍼시픽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3566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Amorepacific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11480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스타벅스앳홈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Starbucks at Home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39" y="411480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599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현대백화점그룹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599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Hyundai Dept.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59" y="411480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ETUDE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에뛰드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8280" y="411480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MISSHA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미샤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12064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요기요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Yogiyo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520439" y="512064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599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NC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599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NCSoft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9359" y="512064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정몽구재단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CMK Foundation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98280" y="5120640"/>
            <a:ext cx="256032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35440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현대글로비스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Hyundai Glovis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6217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외 다수 프로젝트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8652B"/>
                </a:solidFill>
                <a:latin typeface="Arial"/>
              </a:rPr>
              <a:t>팀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8872"/>
            <a:ext cx="347472" cy="347472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77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누가 당신의 브랜드를</a:t>
            </a:r>
          </a:p>
          <a:p>
            <a:pPr algn="l"/>
            <a:r>
              <a:rPr sz="2800" b="1">
                <a:solidFill>
                  <a:srgbClr val="1A1A1A"/>
                </a:solidFill>
                <a:latin typeface="Arial"/>
              </a:rPr>
              <a:t>함께 만드는가.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103120"/>
            <a:ext cx="1069848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</a:rPr>
              <a:t>권윤정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697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652B"/>
                </a:solidFill>
                <a:latin typeface="Arial"/>
              </a:rPr>
              <a:t>대표 · Brand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08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18년간 글로벌 브랜드의 전략을 설계했습니다.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그리고 직접 브랜드를 만들어 3개국에 진출시켰습니다.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이제 그 경험을 당신의 브랜드에 씁니다.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319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· 글로벌 브랜드 IMC 전략 18년+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· 아모레퍼시픽, CJ, 네슬레, 하이네켄 외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· ReSaltZ 브랜드 창업 → 미국/일본 진출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· 대기업/자사 팝업 30건+ 직접 기획·운영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· Cosmoprof NA/Bologna 참가 및 수주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· 미국 법인 설립 (Seoul Wellness, INC.)</a:t>
            </a:r>
          </a:p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· 서울 창창사 11기 · A-벤처스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468880"/>
            <a:ext cx="36576" cy="1097280"/>
          </a:xfrm>
          <a:prstGeom prst="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4688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"대행사에서 남의 브랜드를 키울 때는 몰랐습니다.</a:t>
            </a:r>
          </a:p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내 돈으로 내 브랜드를 만들어보니,</a:t>
            </a:r>
          </a:p>
          <a:p>
            <a:pPr algn="l"/>
            <a:r>
              <a:rPr sz="1300" b="1">
                <a:solidFill>
                  <a:srgbClr val="1A1A1A"/>
                </a:solidFill>
                <a:latin typeface="Arial"/>
              </a:rPr>
              <a:t>진짜 중요한 건 완전히 다르더라고요."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40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대기업에서 배운 체계적인 전략.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자사 브랜드에서 깨달은 현장의 감각.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이 두 가지가 합쳐질 때, 스타트업의 브랜드는 비로소 뾰족해집니다.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브랜드라이즈는 "예쁜 결과물"을 만드는 곳이 아닙니다.</a:t>
            </a:r>
          </a:p>
          <a:p>
            <a:pPr algn="l"/>
            <a:r>
              <a:rPr sz="1000" b="0">
                <a:solidFill>
                  <a:srgbClr val="555555"/>
                </a:solidFill>
                <a:latin typeface="Arial"/>
              </a:rPr>
              <a:t>대표님이 밤새 고민하는 그 문제를, 함께 풀어가는 팀입니다.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F5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8652B"/>
                </a:solidFill>
                <a:latin typeface="Arial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18872"/>
            <a:ext cx="347472" cy="347472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77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652B"/>
                </a:solidFill>
                <a:latin typeface="Arial"/>
              </a:rPr>
              <a:t>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A1A1A"/>
                </a:solidFill>
                <a:latin typeface="Arial"/>
              </a:rPr>
              <a:t>아직도 브랜딩 플랜 없이</a:t>
            </a:r>
          </a:p>
          <a:p>
            <a:pPr algn="ctr"/>
            <a:r>
              <a:rPr sz="3400" b="1">
                <a:solidFill>
                  <a:srgbClr val="1A1A1A"/>
                </a:solidFill>
                <a:latin typeface="Arial"/>
              </a:rPr>
              <a:t>마케팅 예산 쓰고 계신가요?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Arial"/>
              </a:rPr>
              <a:t>무료 브랜드 진단으로 시작하세요.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Arial"/>
              </a:rPr>
              <a:t>30분이면 지금 당장 개선할 수 있는 3가지를 찾아드립니다.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840480"/>
            <a:ext cx="3383280" cy="548640"/>
          </a:xfrm>
          <a:prstGeom prst="roundRect">
            <a:avLst/>
          </a:prstGeom>
          <a:solidFill>
            <a:srgbClr val="E86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무료 브랜드 진단 신청하기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80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  <a:latin typeface="Arial"/>
              </a:rPr>
              <a:t>상담 후 진행 여부는 자유롭게 결정하세요.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029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@brandrise_kr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5029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hello@brandrise.kr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029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Arial"/>
              </a:rPr>
              <a:t>서울 마포구 양화로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943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주식회사 히즈 (HIZ Inc.) · 설립 2018 · 서울시 마포구 양화로 73-1, 5층</a:t>
            </a:r>
          </a:p>
          <a:p>
            <a:pPr algn="ctr"/>
            <a:r>
              <a:rPr sz="800" b="0">
                <a:solidFill>
                  <a:srgbClr val="999999"/>
                </a:solidFill>
                <a:latin typeface="Arial"/>
              </a:rPr>
              <a:t>Brand rise isn't luck. It's engineered.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  <a:latin typeface="Arial"/>
              </a:rPr>
              <a:t>브랜드라이즈 서비스 소개서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